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</p:sldIdLst>
  <p:sldSz cx="12192000" cy="6858000"/>
  <p:notesSz cx="6858000" cy="12192000"/>
  <p:embeddedFontLst>
    <p:embeddedFont>
      <p:font typeface="Cambria Math" panose="02040503050406030204" pitchFamily="18" charset="0"/>
      <p:regular r:id="rId10"/>
    </p:embeddedFon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Inter" panose="020B0604020202020204" charset="0"/>
      <p:regular r:id="rId15"/>
    </p:embeddedFont>
    <p:embeddedFont>
      <p:font typeface="Inter Bold" panose="020B0604020202020204" charset="0"/>
      <p:regular r:id="rId16"/>
    </p:embeddedFont>
    <p:embeddedFont>
      <p:font typeface="Petrona Bold" panose="020B0604020202020204" charset="0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6FAFB"/>
    <a:srgbClr val="FBFDFD"/>
    <a:srgbClr val="FBFC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A6E5AD-617A-4564-9ECC-5E19AD1EE04B}" v="11" dt="2026-09-08T18:30:21.6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1260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2580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78670"/>
            <a:ext cx="10868745" cy="10854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ML-Assisted Portfolio Optimization Under Realistic Trading Constraints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61475" y="2994819"/>
            <a:ext cx="11478330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Return Prediction to Realistic Capital Allocation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61475" y="3486745"/>
            <a:ext cx="10868745" cy="1905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61475" y="3919141"/>
            <a:ext cx="6359862" cy="1174055"/>
          </a:xfrm>
          <a:prstGeom prst="roundRect">
            <a:avLst>
              <a:gd name="adj" fmla="val 5917"/>
            </a:avLst>
          </a:prstGeom>
          <a:solidFill>
            <a:srgbClr val="CCEEF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769" y="4171553"/>
            <a:ext cx="206667" cy="1652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98731" y="4109244"/>
            <a:ext cx="565731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Insight: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Predicting returns is only half the problem. The real challenge is deciding how to optimally allocate capital while balancing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return,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real-world</a:t>
            </a: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13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trading constraints.</a:t>
            </a:r>
            <a:endParaRPr lang="en-US" sz="1300" b="1" dirty="0"/>
          </a:p>
        </p:txBody>
      </p:sp>
      <p:sp>
        <p:nvSpPr>
          <p:cNvPr id="8" name="Text 5"/>
          <p:cNvSpPr/>
          <p:nvPr/>
        </p:nvSpPr>
        <p:spPr>
          <a:xfrm>
            <a:off x="7431100" y="3881934"/>
            <a:ext cx="4714955" cy="2646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Course Project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Abhinav Pullela      </a:t>
            </a:r>
          </a:p>
          <a:p>
            <a:pPr marL="0" indent="0" algn="r">
              <a:lnSpc>
                <a:spcPct val="133000"/>
              </a:lnSpc>
              <a:buNone/>
            </a:pPr>
            <a:r>
              <a:rPr lang="en-US" sz="1300" i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~ Y B Siddharth         </a:t>
            </a:r>
            <a:endParaRPr lang="en-US" sz="13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88BEA7-E97A-2F05-DC16-D4F6329C89B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496788"/>
            <a:ext cx="1003771" cy="247352"/>
          </a:xfrm>
          <a:prstGeom prst="roundRect">
            <a:avLst>
              <a:gd name="adj" fmla="val 22116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59104" y="545604"/>
            <a:ext cx="1418098" cy="1497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61475" y="808236"/>
            <a:ext cx="10868745" cy="5340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Predicting Returns Is Not Enough</a:t>
            </a:r>
            <a:endParaRPr lang="en-US" sz="3350" dirty="0"/>
          </a:p>
        </p:txBody>
      </p:sp>
      <p:sp>
        <p:nvSpPr>
          <p:cNvPr id="5" name="Text 3"/>
          <p:cNvSpPr/>
          <p:nvPr/>
        </p:nvSpPr>
        <p:spPr>
          <a:xfrm>
            <a:off x="661475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Investor's Challenge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61475" y="2276673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7" name="Text 5"/>
          <p:cNvSpPr/>
          <p:nvPr/>
        </p:nvSpPr>
        <p:spPr>
          <a:xfrm>
            <a:off x="903066" y="219025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Many Assets, Different Risk Profiles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03066" y="2617589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Different assets have different expected returns and risk, so selecting investments requires a principled allocation strategy.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66362" y="3553814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0" name="Text 8"/>
          <p:cNvSpPr/>
          <p:nvPr/>
        </p:nvSpPr>
        <p:spPr>
          <a:xfrm>
            <a:off x="897023" y="3460944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Correlation Matters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3066" y="3902235"/>
            <a:ext cx="4994249" cy="775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Assets move together. Ignoring correlations can create concentrated and fragile portfolios.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61475" y="4753756"/>
            <a:ext cx="81357" cy="81359"/>
          </a:xfrm>
          <a:prstGeom prst="ellipse">
            <a:avLst/>
          </a:prstGeom>
          <a:solidFill>
            <a:srgbClr val="007EBD"/>
          </a:solidFill>
          <a:ln/>
        </p:spPr>
      </p:sp>
      <p:sp>
        <p:nvSpPr>
          <p:cNvPr id="13" name="Text 11"/>
          <p:cNvSpPr/>
          <p:nvPr/>
        </p:nvSpPr>
        <p:spPr>
          <a:xfrm>
            <a:off x="903066" y="4667336"/>
            <a:ext cx="4994249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Real-World Constraints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03066" y="5129180"/>
            <a:ext cx="4994249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IN" sz="1400" dirty="0">
                <a:latin typeface="Inter" panose="020B0604020202020204" charset="0"/>
                <a:ea typeface="Inter" panose="020B0604020202020204" charset="0"/>
              </a:rPr>
              <a:t>Transaction costs, position limits, cardinality limits, and turnover make real portfolio allocation more complex.</a:t>
            </a:r>
            <a:endParaRPr lang="en-US" sz="1250" dirty="0">
              <a:latin typeface="Inter" panose="020B0604020202020204" charset="0"/>
              <a:ea typeface="Inter" panose="020B060402020202020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00729" y="1742877"/>
            <a:ext cx="5235841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Two Distinct Sub-Problems</a:t>
            </a:r>
            <a:endParaRPr lang="en-US" sz="165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2190254"/>
            <a:ext cx="5235841" cy="1307802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558691" y="237202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Machine Learning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6558691" y="279935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expected returns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from historical market data and derived price/volume signals.</a:t>
            </a:r>
            <a:endParaRPr lang="en-US" sz="1250" dirty="0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00729" y="3658295"/>
            <a:ext cx="5235841" cy="1307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558691" y="3840063"/>
            <a:ext cx="4796114" cy="2670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Mathematical Optimization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6558691" y="4267398"/>
            <a:ext cx="4796114" cy="5169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and the covariance structure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choose portfolio weights </a:t>
            </a:r>
            <a:r>
              <a:rPr lang="en-US" sz="12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2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subject to all binding constraints.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300729" y="5146377"/>
            <a:ext cx="5235841" cy="41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300" b="1" i="1" dirty="0">
                <a:solidFill>
                  <a:srgbClr val="0070C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predicted returns and asset risk, what portfolio allocation is optimal under realistic conditions?</a:t>
            </a:r>
            <a:endParaRPr lang="en-US" sz="1300" b="1" dirty="0">
              <a:solidFill>
                <a:srgbClr val="0070C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5403C88-4086-92DA-4067-2883777940D7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E11092-2D44-A387-4D66-BB5C6EE85154}"/>
              </a:ext>
            </a:extLst>
          </p:cNvPr>
          <p:cNvSpPr txBox="1"/>
          <p:nvPr/>
        </p:nvSpPr>
        <p:spPr>
          <a:xfrm>
            <a:off x="3269411" y="383012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What We Will Use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Specification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5796603"/>
              </p:ext>
            </p:extLst>
          </p:nvPr>
        </p:nvGraphicFramePr>
        <p:xfrm>
          <a:off x="661474" y="1558627"/>
          <a:ext cx="10868746" cy="4650878"/>
        </p:xfrm>
        <a:graphic>
          <a:graphicData uri="http://schemas.openxmlformats.org/drawingml/2006/table">
            <a:tbl>
              <a:tblPr/>
              <a:tblGrid>
                <a:gridCol w="54343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343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Details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Asset Universe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29 NSE stocks for the primary experiment, with the larger Kaggle universe considered for supplementary historical analysis.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Period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Sept 2021 – Sept 2026 (~5 years)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Frequency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3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NSE Indian equity data (Primary) | Kaggle historical Indian stock data (Secondary)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065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27252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Core/Raw Variables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1200" dirty="0">
                          <a:latin typeface="Inter" panose="020B0604020202020204" charset="0"/>
                          <a:ea typeface="Inter" panose="020B0604020202020204" charset="0"/>
                        </a:rPr>
                        <a:t>OHLC prices, adjusted prices, volume, turnover/trading activity, NIFTY 50 and India VIX where available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39549" marR="139549" marT="6350" marB="63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61475" y="2245803"/>
            <a:ext cx="10868745" cy="8722"/>
          </a:xfrm>
          <a:prstGeom prst="rect">
            <a:avLst/>
          </a:prstGeom>
          <a:solidFill>
            <a:schemeClr val="tx1">
              <a:alpha val="8000"/>
            </a:schemeClr>
          </a:solidFill>
          <a:ln>
            <a:solidFill>
              <a:schemeClr val="tx1"/>
            </a:solidFill>
          </a:ln>
        </p:spPr>
      </p:sp>
      <p:sp>
        <p:nvSpPr>
          <p:cNvPr id="8" name="Shape 5"/>
          <p:cNvSpPr/>
          <p:nvPr/>
        </p:nvSpPr>
        <p:spPr>
          <a:xfrm>
            <a:off x="732143" y="4618271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577835" y="38840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61475" y="3141139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661473" y="5405166"/>
            <a:ext cx="10868745" cy="8722"/>
          </a:xfrm>
          <a:prstGeom prst="rect">
            <a:avLst/>
          </a:prstGeom>
          <a:solidFill>
            <a:srgbClr val="000000">
              <a:alpha val="8000"/>
            </a:srgbClr>
          </a:solidFill>
          <a:ln/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8F45C2-D829-6966-49DF-22A241639179}"/>
              </a:ext>
            </a:extLst>
          </p:cNvPr>
          <p:cNvSpPr/>
          <p:nvPr/>
        </p:nvSpPr>
        <p:spPr>
          <a:xfrm>
            <a:off x="11056205" y="6558915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215EF13-6F61-77C6-5B74-BE6BCE411979}"/>
              </a:ext>
            </a:extLst>
          </p:cNvPr>
          <p:cNvSpPr/>
          <p:nvPr/>
        </p:nvSpPr>
        <p:spPr>
          <a:xfrm>
            <a:off x="11050438" y="1101060"/>
            <a:ext cx="1141562" cy="5756940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C523CE-58CD-76B1-6E18-6635B8A88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0" y="1101060"/>
            <a:ext cx="10541058" cy="4058324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BD83627-853E-A0F8-008C-4DF09690D4B0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6FAF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501726A4-F00F-8A09-E810-8A2003FBE878}"/>
              </a:ext>
            </a:extLst>
          </p:cNvPr>
          <p:cNvSpPr/>
          <p:nvPr/>
        </p:nvSpPr>
        <p:spPr>
          <a:xfrm>
            <a:off x="661475" y="518914"/>
            <a:ext cx="451136" cy="211832"/>
          </a:xfrm>
          <a:prstGeom prst="roundRect">
            <a:avLst>
              <a:gd name="adj" fmla="val 22135"/>
            </a:avLst>
          </a:prstGeom>
          <a:solidFill>
            <a:srgbClr val="CCEEFF"/>
          </a:solidFill>
          <a:ln/>
        </p:spPr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9D1D4FBB-30B3-4E58-DF81-F7884E097DB3}"/>
              </a:ext>
            </a:extLst>
          </p:cNvPr>
          <p:cNvSpPr/>
          <p:nvPr/>
        </p:nvSpPr>
        <p:spPr>
          <a:xfrm>
            <a:off x="745114" y="560685"/>
            <a:ext cx="893442" cy="1282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850" dirty="0"/>
          </a:p>
        </p:txBody>
      </p:sp>
      <p:sp>
        <p:nvSpPr>
          <p:cNvPr id="11" name="Text 2">
            <a:extLst>
              <a:ext uri="{FF2B5EF4-FFF2-40B4-BE49-F238E27FC236}">
                <a16:creationId xmlns:a16="http://schemas.microsoft.com/office/drawing/2014/main" id="{817012E2-0FB6-7484-F04A-2D058606C4D7}"/>
              </a:ext>
            </a:extLst>
          </p:cNvPr>
          <p:cNvSpPr/>
          <p:nvPr/>
        </p:nvSpPr>
        <p:spPr>
          <a:xfrm>
            <a:off x="661475" y="777776"/>
            <a:ext cx="10868745" cy="457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 Market Data: How It Becomes Model Inputs</a:t>
            </a:r>
            <a:endParaRPr lang="en-US" sz="285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B9BCB45-C2AF-1F87-A914-D19967EBBC79}"/>
              </a:ext>
            </a:extLst>
          </p:cNvPr>
          <p:cNvSpPr/>
          <p:nvPr/>
        </p:nvSpPr>
        <p:spPr>
          <a:xfrm>
            <a:off x="661475" y="128270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Dataset Application</a:t>
            </a:r>
            <a:endParaRPr lang="en-US" sz="1400" dirty="0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3133501C-39EF-4011-514F-3235193C4D04}"/>
              </a:ext>
            </a:extLst>
          </p:cNvPr>
          <p:cNvSpPr/>
          <p:nvPr/>
        </p:nvSpPr>
        <p:spPr>
          <a:xfrm>
            <a:off x="813875" y="4220865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Temporal Data Split Strategy</a:t>
            </a:r>
            <a:endParaRPr lang="en-US" sz="14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FCF91CB8-A66B-3BE5-B1F8-CDBCDC99DEF2}"/>
              </a:ext>
            </a:extLst>
          </p:cNvPr>
          <p:cNvSpPr/>
          <p:nvPr/>
        </p:nvSpPr>
        <p:spPr>
          <a:xfrm>
            <a:off x="813875" y="4626372"/>
            <a:ext cx="11478330" cy="2058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n-IN" sz="1050" dirty="0">
                <a:latin typeface="Inter" panose="020B0604020202020204" charset="0"/>
                <a:ea typeface="Inter" panose="020B0604020202020204" charset="0"/>
              </a:rPr>
              <a:t>Data is split chronologically to separate model development from final out-of-sample evaluation.</a:t>
            </a:r>
            <a:endParaRPr lang="en-US" sz="1050" dirty="0">
              <a:latin typeface="Inter" panose="020B0604020202020204" charset="0"/>
              <a:ea typeface="Inter" panose="020B0604020202020204" charset="0"/>
            </a:endParaRPr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CBD2C9-FDEB-B638-27B7-420F8519C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75" y="4964708"/>
            <a:ext cx="3622882" cy="558205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EFDCBC0A-D35E-0D0E-42A2-494A441C196E}"/>
              </a:ext>
            </a:extLst>
          </p:cNvPr>
          <p:cNvSpPr/>
          <p:nvPr/>
        </p:nvSpPr>
        <p:spPr>
          <a:xfrm>
            <a:off x="953373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Training</a:t>
            </a:r>
            <a:endParaRPr lang="en-US" sz="1400" dirty="0"/>
          </a:p>
        </p:txBody>
      </p:sp>
      <p:sp>
        <p:nvSpPr>
          <p:cNvPr id="23" name="Text 12">
            <a:extLst>
              <a:ext uri="{FF2B5EF4-FFF2-40B4-BE49-F238E27FC236}">
                <a16:creationId xmlns:a16="http://schemas.microsoft.com/office/drawing/2014/main" id="{428CCE21-B59E-3FDA-ED47-4DCAED8DE954}"/>
              </a:ext>
            </a:extLst>
          </p:cNvPr>
          <p:cNvSpPr/>
          <p:nvPr/>
        </p:nvSpPr>
        <p:spPr>
          <a:xfrm>
            <a:off x="953373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learning period. Feature patterns and return signals extracted here.</a:t>
            </a:r>
            <a:endParaRPr lang="en-US" sz="1050" dirty="0"/>
          </a:p>
        </p:txBody>
      </p:sp>
      <p:pic>
        <p:nvPicPr>
          <p:cNvPr id="25" name="Image 1" descr="preencoded.png">
            <a:extLst>
              <a:ext uri="{FF2B5EF4-FFF2-40B4-BE49-F238E27FC236}">
                <a16:creationId xmlns:a16="http://schemas.microsoft.com/office/drawing/2014/main" id="{5A586E6D-B73D-D062-115D-4BABA0725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6757" y="4964708"/>
            <a:ext cx="3622882" cy="558205"/>
          </a:xfrm>
          <a:prstGeom prst="rect">
            <a:avLst/>
          </a:prstGeom>
        </p:spPr>
      </p:pic>
      <p:sp>
        <p:nvSpPr>
          <p:cNvPr id="27" name="Text 13">
            <a:extLst>
              <a:ext uri="{FF2B5EF4-FFF2-40B4-BE49-F238E27FC236}">
                <a16:creationId xmlns:a16="http://schemas.microsoft.com/office/drawing/2014/main" id="{DF6CD954-2710-ADE9-EBA8-167FE831275A}"/>
              </a:ext>
            </a:extLst>
          </p:cNvPr>
          <p:cNvSpPr/>
          <p:nvPr/>
        </p:nvSpPr>
        <p:spPr>
          <a:xfrm>
            <a:off x="4576255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9" name="Text 14">
            <a:extLst>
              <a:ext uri="{FF2B5EF4-FFF2-40B4-BE49-F238E27FC236}">
                <a16:creationId xmlns:a16="http://schemas.microsoft.com/office/drawing/2014/main" id="{8409B881-1B6B-A7A7-CB79-3F7ECDA26DD3}"/>
              </a:ext>
            </a:extLst>
          </p:cNvPr>
          <p:cNvSpPr/>
          <p:nvPr/>
        </p:nvSpPr>
        <p:spPr>
          <a:xfrm>
            <a:off x="4576255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Hyperparameter tuning and model selection. No future data contamination.</a:t>
            </a:r>
            <a:endParaRPr lang="en-US" sz="1050" dirty="0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C17644C-78B2-97A5-53D3-29E9E71681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9639" y="4964708"/>
            <a:ext cx="3622882" cy="558205"/>
          </a:xfrm>
          <a:prstGeom prst="rect">
            <a:avLst/>
          </a:prstGeom>
        </p:spPr>
      </p:pic>
      <p:sp>
        <p:nvSpPr>
          <p:cNvPr id="33" name="Text 15">
            <a:extLst>
              <a:ext uri="{FF2B5EF4-FFF2-40B4-BE49-F238E27FC236}">
                <a16:creationId xmlns:a16="http://schemas.microsoft.com/office/drawing/2014/main" id="{977EACBF-6563-935F-5540-9024128AFB9D}"/>
              </a:ext>
            </a:extLst>
          </p:cNvPr>
          <p:cNvSpPr/>
          <p:nvPr/>
        </p:nvSpPr>
        <p:spPr>
          <a:xfrm>
            <a:off x="8199137" y="5640586"/>
            <a:ext cx="3343886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Backtesting</a:t>
            </a:r>
            <a:endParaRPr lang="en-US" sz="14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323DD396-CC80-4314-8210-D5B45CD747DF}"/>
              </a:ext>
            </a:extLst>
          </p:cNvPr>
          <p:cNvSpPr/>
          <p:nvPr/>
        </p:nvSpPr>
        <p:spPr>
          <a:xfrm>
            <a:off x="8199137" y="5940127"/>
            <a:ext cx="3343886" cy="4117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Unseen data. Portfolio performance evaluated here as a true out-of-sample test.</a:t>
            </a:r>
            <a:endParaRPr lang="en-US" sz="1050" dirty="0"/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0E73999E-7850-1F1A-688F-10CC86F86818}"/>
              </a:ext>
            </a:extLst>
          </p:cNvPr>
          <p:cNvSpPr/>
          <p:nvPr/>
        </p:nvSpPr>
        <p:spPr>
          <a:xfrm>
            <a:off x="887043" y="1708330"/>
            <a:ext cx="10868745" cy="2288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</a:rPr>
              <a:t>Model Inputs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373745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75171"/>
            <a:ext cx="1772895" cy="208062"/>
          </a:xfrm>
          <a:prstGeom prst="roundRect">
            <a:avLst>
              <a:gd name="adj" fmla="val 22118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3626" y="616248"/>
            <a:ext cx="2218178" cy="1259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OPTIMIZATION FORMULATION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661475" y="828576"/>
            <a:ext cx="10868745" cy="4494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From Idealized to Realistic Portfolio Optimization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61475" y="1323380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Easy Problem: Convex Mean-Variance Optimization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1475" y="1718171"/>
            <a:ext cx="10868745" cy="931069"/>
          </a:xfrm>
          <a:prstGeom prst="roundRect">
            <a:avLst>
              <a:gd name="adj" fmla="val 6178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825777" y="1855093"/>
            <a:ext cx="10540141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maximize:  μ̂ᵀw − λ · wᵀΣw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subject to: Σ wᵢ = 1</a:t>
            </a:r>
            <a:endParaRPr lang="en-US" sz="10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050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wᵢ ≥ 0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61475" y="2776835"/>
            <a:ext cx="10868745" cy="9199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μ̂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ML-predicted expected returns vector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Σ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covariance matrix encoding asset risk structure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portfolio weight vector (decision variable)</a:t>
            </a:r>
            <a:endParaRPr lang="en-US" sz="1050" dirty="0"/>
          </a:p>
          <a:p>
            <a:pPr marL="213360" indent="-213360" algn="l">
              <a:lnSpc>
                <a:spcPct val="122000"/>
              </a:lnSpc>
              <a:buSzPct val="100000"/>
              <a:buChar char="•"/>
            </a:pPr>
            <a:r>
              <a:rPr lang="en-US" sz="10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λ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= risk-aversion parameter (controls return/risk tradeoff)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1475" y="3902571"/>
            <a:ext cx="10868745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Hard Problem: Add Realistic Trading Constraints</a:t>
            </a:r>
            <a:endParaRPr lang="en-US" sz="14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4297363"/>
            <a:ext cx="2632108" cy="1405533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93641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Transaction Costs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93641" y="47460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1400" dirty="0"/>
              <a:t>Account for the cost of buying and selling assets.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06987" y="4297363"/>
            <a:ext cx="2632108" cy="140553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639153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Cardinality Constraints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2500" y="4297363"/>
            <a:ext cx="2632108" cy="140553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384665" y="4746030"/>
            <a:ext cx="2205875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exposure to individual assets</a:t>
            </a:r>
          </a:p>
        </p:txBody>
      </p:sp>
      <p:sp>
        <p:nvSpPr>
          <p:cNvPr id="18" name="Text 13"/>
          <p:cNvSpPr/>
          <p:nvPr/>
        </p:nvSpPr>
        <p:spPr>
          <a:xfrm>
            <a:off x="6384666" y="4453334"/>
            <a:ext cx="22439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Position Limits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639153" y="4746030"/>
            <a:ext cx="2243974" cy="8008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the number of assets held.</a:t>
            </a:r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8013" y="4297363"/>
            <a:ext cx="2632208" cy="140553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30179" y="4453334"/>
            <a:ext cx="2244074" cy="2247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Turnover Constraints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9130179" y="4746030"/>
            <a:ext cx="2244074" cy="600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dirty="0">
                <a:latin typeface="Inter" panose="020B0604020202020204" charset="0"/>
                <a:ea typeface="Inter" panose="020B0604020202020204" charset="0"/>
              </a:rPr>
              <a:t>Limit portfolio rebalancing.</a:t>
            </a:r>
          </a:p>
        </p:txBody>
      </p:sp>
      <p:sp>
        <p:nvSpPr>
          <p:cNvPr id="23" name="Text 17"/>
          <p:cNvSpPr/>
          <p:nvPr/>
        </p:nvSpPr>
        <p:spPr>
          <a:xfrm>
            <a:off x="645501" y="6071493"/>
            <a:ext cx="11478330" cy="1601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Core research question:</a:t>
            </a:r>
            <a:r>
              <a:rPr lang="en-US" sz="14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How much do realistic constraints change the optimal portfolio and its performance ?</a:t>
            </a:r>
            <a:endParaRPr lang="en-US" sz="1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70A68CE-7831-3303-7D92-A09F9079490E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3D6257B-B297-4D41-3370-DA161F48E405}"/>
              </a:ext>
            </a:extLst>
          </p:cNvPr>
          <p:cNvSpPr txBox="1"/>
          <p:nvPr/>
        </p:nvSpPr>
        <p:spPr>
          <a:xfrm>
            <a:off x="3370737" y="1920644"/>
            <a:ext cx="40978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  <a:latin typeface="Inter" panose="020B0604020202020204" charset="0"/>
                <a:ea typeface="Inter" panose="020B0604020202020204" charset="0"/>
              </a:rPr>
              <a:t>Balance predicted return against portfolio risk while remaining fully invested and long-only</a:t>
            </a:r>
            <a:endParaRPr lang="en-IN" sz="1200" dirty="0">
              <a:solidFill>
                <a:srgbClr val="0070C0"/>
              </a:solidFill>
              <a:latin typeface="Inter" panose="020B0604020202020204" charset="0"/>
              <a:ea typeface="Inter" panose="020B060402020202020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09984"/>
            <a:ext cx="1125013" cy="219869"/>
          </a:xfrm>
          <a:prstGeom prst="roundRect">
            <a:avLst>
              <a:gd name="adj" fmla="val 22115"/>
            </a:avLst>
          </a:prstGeom>
          <a:solidFill>
            <a:srgbClr val="CCEEFF"/>
          </a:solidFill>
          <a:ln/>
        </p:spPr>
      </p:sp>
      <p:sp>
        <p:nvSpPr>
          <p:cNvPr id="3" name="Text 1"/>
          <p:cNvSpPr/>
          <p:nvPr/>
        </p:nvSpPr>
        <p:spPr>
          <a:xfrm>
            <a:off x="748289" y="553343"/>
            <a:ext cx="1560970" cy="133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61475" y="780455"/>
            <a:ext cx="10868745" cy="474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What We Will Investigate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661475" y="1305917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 Comparison Framework</a:t>
            </a:r>
            <a:endParaRPr lang="en-US" sz="145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1733153"/>
            <a:ext cx="2622187" cy="1945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6407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5182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Simple Baseline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5182" y="2626122"/>
            <a:ext cx="2294773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Equal-weight or market-cap-weight portfolio - No prediction, no optimization.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Establish a benchmark floor.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0262" y="1733153"/>
            <a:ext cx="2622286" cy="194528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2862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573968" y="2312888"/>
            <a:ext cx="2294872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Traditional Optimization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573968" y="2626122"/>
            <a:ext cx="2294872" cy="8683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Mean-variance optimization using historical sample mean - No ML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Isolates the value of ML prediction.</a:t>
            </a:r>
            <a:endParaRPr lang="en-US" sz="1100" dirty="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9147" y="1733153"/>
            <a:ext cx="2622187" cy="194528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361748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6322854" y="2312888"/>
            <a:ext cx="2294773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Easy Optimization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322854" y="2626122"/>
            <a:ext cx="2294773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ML-predicted returns fed into convex mean-variance optimizer. No trading constraints.</a:t>
            </a:r>
          </a:p>
          <a:p>
            <a:pPr marL="0" indent="0" algn="l">
              <a:lnSpc>
                <a:spcPct val="125000"/>
              </a:lnSpc>
              <a:buNone/>
            </a:pPr>
            <a:r>
              <a:rPr lang="en-US" sz="10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</a:rPr>
              <a:t>Measure the benefit of predicted returns.</a:t>
            </a:r>
            <a:endParaRPr lang="en-US" sz="10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07934" y="1733153"/>
            <a:ext cx="2622286" cy="194528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110535" y="1830387"/>
            <a:ext cx="216986" cy="2712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9071641" y="2312888"/>
            <a:ext cx="2294872" cy="474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+ Realistic Constraints</a:t>
            </a:r>
            <a:endParaRPr lang="en-US" sz="1450" dirty="0"/>
          </a:p>
        </p:txBody>
      </p:sp>
      <p:sp>
        <p:nvSpPr>
          <p:cNvPr id="21" name="Text 15"/>
          <p:cNvSpPr/>
          <p:nvPr/>
        </p:nvSpPr>
        <p:spPr>
          <a:xfrm>
            <a:off x="9071641" y="2863453"/>
            <a:ext cx="2294872" cy="651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pipeline with transaction costs, cardinality, position limits, and turnover bounds.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661475" y="3868341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Evaluation Metrics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661475" y="4295577"/>
            <a:ext cx="10868745" cy="1001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 — Annualized portfolio return on the backtesting period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Sharpe Ratio — Risk-adjusted return (return per unit of volatility)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 Drawdown — Largest peak-to-trough loss, a key tail risk measure</a:t>
            </a:r>
            <a:endParaRPr lang="en-US" sz="1100" dirty="0"/>
          </a:p>
          <a:p>
            <a:pPr marL="223520" indent="-223520" algn="l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Turnover &amp; Costs — Total rebalancing activity and realized transaction costs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61475" y="5486598"/>
            <a:ext cx="10868745" cy="237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Planned/Potential Extension</a:t>
            </a:r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 19"/>
              <p:cNvSpPr/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>
                <a:noAutofit/>
              </a:bodyPr>
              <a:lstStyle/>
              <a:p>
                <a:r>
                  <a:rPr lang="en-US" sz="1350" b="1" dirty="0">
                    <a:solidFill>
                      <a:srgbClr val="272525"/>
                    </a:solidFill>
                    <a:latin typeface="Inter Bold" pitchFamily="34" charset="0"/>
                    <a:ea typeface="Inter Bold" pitchFamily="34" charset="-122"/>
                    <a:cs typeface="Inter Bold" pitchFamily="34" charset="-120"/>
                  </a:rPr>
                  <a:t>Regime-aware optimization:</a:t>
                </a:r>
                <a:r>
                  <a:rPr lang="en-US" sz="1350" dirty="0">
                    <a:solidFill>
                      <a:srgbClr val="272525"/>
                    </a:solidFill>
                    <a:latin typeface="Inter" pitchFamily="34" charset="0"/>
                    <a:ea typeface="Inter" pitchFamily="34" charset="-122"/>
                    <a:cs typeface="Inter" pitchFamily="34" charset="-120"/>
                  </a:rPr>
                  <a:t> </a:t>
                </a:r>
                <a:r>
                  <a:rPr lang="en-IN" sz="1350" dirty="0">
                    <a:latin typeface="Inter" panose="020B0604020202020204" charset="0"/>
                    <a:ea typeface="Inter" panose="020B0604020202020204" charset="0"/>
                  </a:rPr>
                  <a:t>use market conditions such as normal and high-volatility periods to investigate whether adapting risk aversion </a:t>
                </a:r>
                <a14:m>
                  <m:oMath xmlns:m="http://schemas.openxmlformats.org/officeDocument/2006/math">
                    <m:r>
                      <a:rPr lang="en-IN" sz="1350" i="1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IN" sz="1350" dirty="0">
                    <a:latin typeface="Inter" panose="020B0604020202020204" charset="0"/>
                    <a:ea typeface="Inter" panose="020B0604020202020204" charset="0"/>
                  </a:rPr>
                  <a:t>improves portfolio robustness.</a:t>
                </a:r>
                <a:endParaRPr lang="en-US" sz="1350" dirty="0">
                  <a:latin typeface="Inter" panose="020B0604020202020204" charset="0"/>
                  <a:ea typeface="Inter" panose="020B0604020202020204" charset="0"/>
                </a:endParaRPr>
              </a:p>
            </p:txBody>
          </p:sp>
        </mc:Choice>
        <mc:Fallback>
          <p:sp>
            <p:nvSpPr>
              <p:cNvPr id="25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475" y="5913834"/>
                <a:ext cx="10868745" cy="434181"/>
              </a:xfrm>
              <a:prstGeom prst="rect">
                <a:avLst/>
              </a:prstGeom>
              <a:blipFill>
                <a:blip r:embed="rId4"/>
                <a:stretch>
                  <a:fillRect l="-1010" t="-12676" b="-21127"/>
                </a:stretch>
              </a:blipFill>
              <a:ln/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ectangle 26">
            <a:extLst>
              <a:ext uri="{FF2B5EF4-FFF2-40B4-BE49-F238E27FC236}">
                <a16:creationId xmlns:a16="http://schemas.microsoft.com/office/drawing/2014/main" id="{AED29C0E-E643-1BE3-937C-7DD22D28E2EB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467044-3E2D-23C8-9AC6-139B0857130E}"/>
              </a:ext>
            </a:extLst>
          </p:cNvPr>
          <p:cNvSpPr txBox="1"/>
          <p:nvPr/>
        </p:nvSpPr>
        <p:spPr>
          <a:xfrm>
            <a:off x="8907934" y="3795623"/>
            <a:ext cx="298789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100" dirty="0">
                <a:solidFill>
                  <a:srgbClr val="0070C0"/>
                </a:solidFill>
              </a:rPr>
              <a:t>*</a:t>
            </a:r>
            <a:r>
              <a:rPr lang="en-IN" sz="1100" dirty="0">
                <a:solidFill>
                  <a:srgbClr val="0070C0"/>
                </a:solidFill>
                <a:latin typeface="Inter" panose="020B0604020202020204" charset="0"/>
                <a:ea typeface="Inter" panose="020B0604020202020204" charset="0"/>
              </a:rPr>
              <a:t>Final constraint set will be selected based on data and implementation feasibility.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57AC35-8D92-49BE-0E09-BC31E3BD6528}"/>
              </a:ext>
            </a:extLst>
          </p:cNvPr>
          <p:cNvSpPr/>
          <p:nvPr/>
        </p:nvSpPr>
        <p:spPr>
          <a:xfrm>
            <a:off x="11050438" y="6538823"/>
            <a:ext cx="1089367" cy="264616"/>
          </a:xfrm>
          <a:prstGeom prst="rect">
            <a:avLst/>
          </a:prstGeom>
          <a:solidFill>
            <a:srgbClr val="FBFCF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707B18-9F1A-F67D-BE55-50FF02555942}"/>
              </a:ext>
            </a:extLst>
          </p:cNvPr>
          <p:cNvSpPr txBox="1"/>
          <p:nvPr/>
        </p:nvSpPr>
        <p:spPr>
          <a:xfrm>
            <a:off x="422694" y="2398143"/>
            <a:ext cx="11335110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dirty="0">
                <a:solidFill>
                  <a:schemeClr val="accent5">
                    <a:lumMod val="60000"/>
                    <a:lumOff val="40000"/>
                  </a:schemeClr>
                </a:solidFill>
                <a:latin typeface="Petrona Bold" panose="020B0604020202020204" charset="0"/>
              </a:rPr>
              <a:t>THANK YOU</a:t>
            </a:r>
          </a:p>
          <a:p>
            <a:pPr algn="ctr"/>
            <a:endParaRPr lang="en-US" sz="4000" dirty="0"/>
          </a:p>
          <a:p>
            <a:pPr algn="ctr"/>
            <a:r>
              <a:rPr lang="en-IN" sz="2800" dirty="0">
                <a:solidFill>
                  <a:schemeClr val="accent1">
                    <a:lumMod val="50000"/>
                  </a:schemeClr>
                </a:solidFill>
                <a:latin typeface="Inter" panose="020B0604020202020204" charset="0"/>
                <a:ea typeface="Inter" panose="020B0604020202020204" charset="0"/>
              </a:rPr>
              <a:t>Abhinav Pullela (IC2025021) | Y B Siddharth (BC2025116)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F55C56-445B-D256-EF3F-670BEE4D3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003"/>
            <a:ext cx="12192000" cy="6803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598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676</Words>
  <Application>Microsoft Office PowerPoint</Application>
  <PresentationFormat>Widescreen</PresentationFormat>
  <Paragraphs>103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Petrona Bold</vt:lpstr>
      <vt:lpstr>Consolas</vt:lpstr>
      <vt:lpstr>Arial</vt:lpstr>
      <vt:lpstr>Cambria Math</vt:lpstr>
      <vt:lpstr>Inter</vt:lpstr>
      <vt:lpstr>Inter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pullelaabhinav1105@outlook.com</cp:lastModifiedBy>
  <cp:revision>5</cp:revision>
  <dcterms:created xsi:type="dcterms:W3CDTF">2026-09-08T08:59:46Z</dcterms:created>
  <dcterms:modified xsi:type="dcterms:W3CDTF">2026-09-10T13:52:57Z</dcterms:modified>
</cp:coreProperties>
</file>